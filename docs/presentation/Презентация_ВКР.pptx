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75" r:id="rId4"/>
    <p:sldId id="276" r:id="rId5"/>
    <p:sldId id="277" r:id="rId6"/>
    <p:sldId id="273" r:id="rId7"/>
    <p:sldId id="281" r:id="rId8"/>
    <p:sldId id="288" r:id="rId9"/>
    <p:sldId id="283" r:id="rId10"/>
    <p:sldId id="284" r:id="rId11"/>
    <p:sldId id="285" r:id="rId12"/>
    <p:sldId id="286" r:id="rId13"/>
    <p:sldId id="287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B7C"/>
    <a:srgbClr val="004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84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707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D6EA3F2-9293-EF67-3626-59DF328D6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A16528AB-A1DF-914B-3DD0-D3F763D23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ECEA72F9-8899-CA34-2672-A0486A4DE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D51E81B9-F6BB-599B-6B6A-443D7CF774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740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4A52E2D-92C2-3869-7761-70ACF160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9079738A-3EE8-0B9E-E4D0-F5C7F334A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C9A1D3DB-D050-BB8F-577C-C8834F2E2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24CD4E2B-E510-F349-9D9E-6B92CAD4D3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517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968231B-83CA-2921-2BC6-5C3874A3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D91F01E0-E658-7F25-98C8-71A2517D5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048E8DFD-2494-1462-2ABD-A3BF613F8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7D5F858D-4776-4142-B73E-700D2539F5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220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141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A67A60E-C8F8-0215-2928-16FA3609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E13BB952-2902-289D-229F-EBE22078A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2C7CEEED-1A57-4F5E-BDDF-6783B7FED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259695FE-87D2-AAC4-B963-CF50DE5BAD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718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0AE9D33-487E-9AE9-910E-52135F46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ED66AED0-1983-0F08-6C4B-4E762A716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536756CC-1A1A-0166-3A47-79FE92F6D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CA4EFCAB-02BA-0529-C807-2E44B343AF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909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05436F4-6645-B11F-AD21-726C7FE5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CF0199DD-450F-3283-2D8C-8DCDF27FF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3A3D16CE-B00C-94FC-5F9C-E84274481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5B90F271-54C6-8085-08D9-530C88ED47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140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2387A30-9EB7-389F-51EA-660DC9D8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4A62127-F6CA-8C34-90FC-DE9D4C915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6198292B-DC74-7B41-1517-5F1777CCF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EB469676-9FDD-09A6-E5B2-B8226F1DA7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70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2642D4C-B8EA-8460-E0DE-9E333F48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AE11D88-2591-A8C2-5A7C-7DD62D7614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0B869BDD-B677-86DA-8FDB-968D379D5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3DDFABEC-3F48-7A2F-E7C4-284464D46C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832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7295DB2-33D7-D4F7-9D18-CEA08F67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B421B21E-6267-B9A6-1270-839DB4A1E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3DA5AC70-A79C-12A8-5B43-2EE83A3A7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38DD3F0-4FB4-D5A2-46A4-C5059AAA7B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772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7295DB2-33D7-D4F7-9D18-CEA08F67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B421B21E-6267-B9A6-1270-839DB4A1E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3DA5AC70-A79C-12A8-5B43-2EE83A3A7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38DD3F0-4FB4-D5A2-46A4-C5059AAA7B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36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33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33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04792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9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4025507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6012656" y="771527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821656" y="-1209673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311587" y="2897841"/>
            <a:ext cx="3692571" cy="2119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 lang="ru-RU"/>
          </a:p>
        </p:txBody>
      </p:sp>
      <p:grpSp>
        <p:nvGrpSpPr>
          <p:cNvPr id="92" name="Google Shape;92;p1"/>
          <p:cNvGrpSpPr/>
          <p:nvPr/>
        </p:nvGrpSpPr>
        <p:grpSpPr>
          <a:xfrm>
            <a:off x="102130" y="115880"/>
            <a:ext cx="650905" cy="613730"/>
            <a:chOff x="521" y="2704"/>
            <a:chExt cx="454" cy="454"/>
          </a:xfrm>
        </p:grpSpPr>
        <p:sp>
          <p:nvSpPr>
            <p:cNvPr id="93" name="Google Shape;93;p1"/>
            <p:cNvSpPr/>
            <p:nvPr/>
          </p:nvSpPr>
          <p:spPr>
            <a:xfrm>
              <a:off x="523" y="2704"/>
              <a:ext cx="91" cy="91"/>
            </a:xfrm>
            <a:prstGeom prst="ellipse">
              <a:avLst/>
            </a:prstGeom>
            <a:solidFill>
              <a:srgbClr val="00428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521" y="2886"/>
              <a:ext cx="91" cy="91"/>
            </a:xfrm>
            <a:prstGeom prst="ellipse">
              <a:avLst/>
            </a:prstGeom>
            <a:solidFill>
              <a:srgbClr val="00428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704" y="2704"/>
              <a:ext cx="91" cy="91"/>
            </a:xfrm>
            <a:prstGeom prst="ellipse">
              <a:avLst/>
            </a:prstGeom>
            <a:solidFill>
              <a:srgbClr val="ED18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703" y="2886"/>
              <a:ext cx="91" cy="91"/>
            </a:xfrm>
            <a:prstGeom prst="ellipse">
              <a:avLst/>
            </a:prstGeom>
            <a:solidFill>
              <a:srgbClr val="44C8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03" y="3067"/>
              <a:ext cx="91" cy="91"/>
            </a:xfrm>
            <a:prstGeom prst="ellipse">
              <a:avLst/>
            </a:prstGeom>
            <a:solidFill>
              <a:srgbClr val="44C8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884" y="3067"/>
              <a:ext cx="91" cy="91"/>
            </a:xfrm>
            <a:prstGeom prst="ellipse">
              <a:avLst/>
            </a:prstGeom>
            <a:solidFill>
              <a:srgbClr val="44C8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884" y="2704"/>
              <a:ext cx="91" cy="91"/>
            </a:xfrm>
            <a:prstGeom prst="ellipse">
              <a:avLst/>
            </a:prstGeom>
            <a:solidFill>
              <a:srgbClr val="44C8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00" name="Google Shape;100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453189" y="74602"/>
            <a:ext cx="2237622" cy="62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620000" y="92133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12133EE-44F1-4CF4-AF11-DFA0A0A4E378}"/>
              </a:ext>
            </a:extLst>
          </p:cNvPr>
          <p:cNvCxnSpPr/>
          <p:nvPr/>
        </p:nvCxnSpPr>
        <p:spPr>
          <a:xfrm>
            <a:off x="359532" y="769258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33F74A7-30C0-430C-8E19-F36004502EF9}"/>
              </a:ext>
            </a:extLst>
          </p:cNvPr>
          <p:cNvSpPr/>
          <p:nvPr/>
        </p:nvSpPr>
        <p:spPr>
          <a:xfrm>
            <a:off x="2060828" y="858036"/>
            <a:ext cx="56886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Институт Автоматики и информационных технологий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F98B596-D595-44EC-AED0-26A554032C4A}"/>
              </a:ext>
            </a:extLst>
          </p:cNvPr>
          <p:cNvSpPr/>
          <p:nvPr/>
        </p:nvSpPr>
        <p:spPr>
          <a:xfrm>
            <a:off x="2256108" y="1119256"/>
            <a:ext cx="5400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Кафедра «Информатика и вычислительная техника»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FE6032A-9E2D-493C-9CA5-089E50D18BB0}"/>
              </a:ext>
            </a:extLst>
          </p:cNvPr>
          <p:cNvSpPr/>
          <p:nvPr/>
        </p:nvSpPr>
        <p:spPr>
          <a:xfrm>
            <a:off x="87932" y="4186334"/>
            <a:ext cx="54726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Выполнил: </a:t>
            </a:r>
            <a:r>
              <a:rPr lang="ru-RU" i="1" dirty="0"/>
              <a:t>Салюков Е.А., 4-ИАИТ-103</a:t>
            </a:r>
          </a:p>
          <a:p>
            <a:endParaRPr lang="ru-RU" dirty="0"/>
          </a:p>
          <a:p>
            <a:r>
              <a:rPr lang="ru-RU" dirty="0"/>
              <a:t>Руководитель: </a:t>
            </a:r>
            <a:r>
              <a:rPr lang="ru-RU" i="1" dirty="0"/>
              <a:t>к.т.н., доцент </a:t>
            </a:r>
            <a:r>
              <a:rPr lang="ru-RU" i="1" dirty="0" err="1"/>
              <a:t>Забержинский</a:t>
            </a:r>
            <a:r>
              <a:rPr lang="ru-RU" i="1" dirty="0"/>
              <a:t> Б.Э.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6F8DF39-8B70-4B80-A48E-7D2CCE8CFBD2}"/>
              </a:ext>
            </a:extLst>
          </p:cNvPr>
          <p:cNvSpPr/>
          <p:nvPr/>
        </p:nvSpPr>
        <p:spPr>
          <a:xfrm>
            <a:off x="2396741" y="1419016"/>
            <a:ext cx="51193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09.03.01 – «Информатика и вычислительная техника»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9735A948-5264-4E63-B70C-1090BED4E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567" y="1852915"/>
            <a:ext cx="8424936" cy="175260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Выпускная квалификационная работа</a:t>
            </a:r>
          </a:p>
          <a:p>
            <a:r>
              <a:rPr lang="ru-RU" sz="1800" dirty="0">
                <a:solidFill>
                  <a:schemeClr val="tx1"/>
                </a:solidFill>
              </a:rPr>
              <a:t>на тему:</a:t>
            </a:r>
          </a:p>
          <a:p>
            <a:r>
              <a:rPr lang="ru-RU" sz="1800" dirty="0">
                <a:solidFill>
                  <a:schemeClr val="tx1"/>
                </a:solidFill>
              </a:rPr>
              <a:t>«Разработка аппаратно-программного обеспечения для диагностики неисправности элементов компьютерного оборудования»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12133EE-44F1-4CF4-AF11-DFA0A0A4E378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487B6D6-1002-488C-9620-0549FAFB206A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00F2CFF-5448-4752-85D4-440792229404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B5FB690-332F-4983-B3E8-34552B11A787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41A9233-C085-4F77-9AA3-4198812515DA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DCE47ED2-46A2-4361-A7AE-DA1BBC83E901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82B1670-0BA5-4702-87CD-DF782A9E859B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5BF424D-DEED-4E7E-BB6A-B571DDB6F4BD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068164D3-2415-4E1C-A6F5-B265294C8ADA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3755DF88-EBCE-4235-90FD-A56F8CAA224A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  <a:buFont typeface="Arial" panose="020B0604020202020204"/>
              <a:buNone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Актуальность</a:t>
            </a:r>
            <a:endParaRPr lang="ru-RU" sz="1600" dirty="0">
              <a:solidFill>
                <a:srgbClr val="00428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DE0FEA-E4C4-41C3-8447-19E8E0FDB83C}"/>
              </a:ext>
            </a:extLst>
          </p:cNvPr>
          <p:cNvSpPr txBox="1"/>
          <p:nvPr/>
        </p:nvSpPr>
        <p:spPr>
          <a:xfrm>
            <a:off x="300980" y="1223403"/>
            <a:ext cx="4271020" cy="30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Проблема</a:t>
            </a:r>
          </a:p>
          <a:p>
            <a:endParaRPr lang="ru-RU" dirty="0"/>
          </a:p>
          <a:p>
            <a:pPr marL="190500" lvl="0" indent="-190500">
              <a:buClr>
                <a:srgbClr val="1C2833"/>
              </a:buClr>
              <a:buSzPts val="12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POST-код — двухбайтовый код этапа самопроверки BIOS/UEFI при запуске ПК</a:t>
            </a:r>
            <a:endParaRPr lang="ru-RU" dirty="0">
              <a:solidFill>
                <a:schemeClr val="dk1"/>
              </a:solidFill>
              <a:latin typeface="+mj-lt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90500" lvl="0" indent="-190500">
              <a:spcBef>
                <a:spcPts val="500"/>
              </a:spcBef>
              <a:buClr>
                <a:srgbClr val="1C2833"/>
              </a:buClr>
              <a:buSzPts val="12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Интерпретация зависит от производителя BIOS (AMI, Award, Phoenix) → разные значения для одного кода</a:t>
            </a:r>
            <a:endParaRPr lang="ru-RU" dirty="0">
              <a:solidFill>
                <a:schemeClr val="dk1"/>
              </a:solidFill>
              <a:latin typeface="+mj-lt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90500" lvl="0" indent="-190500">
              <a:spcBef>
                <a:spcPts val="500"/>
              </a:spcBef>
              <a:buClr>
                <a:srgbClr val="1C2833"/>
              </a:buClr>
              <a:buSzPts val="12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Официальная документация часто недоступна или неполна</a:t>
            </a:r>
            <a:endParaRPr lang="ru-RU" dirty="0">
              <a:solidFill>
                <a:schemeClr val="dk1"/>
              </a:solidFill>
              <a:latin typeface="+mj-lt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90500" lvl="0" indent="-190500">
              <a:spcBef>
                <a:spcPts val="500"/>
              </a:spcBef>
              <a:buClr>
                <a:srgbClr val="1C2833"/>
              </a:buClr>
              <a:buSzPts val="12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Специалисты вынуждены использовать форумы — низкая достоверность, большие затраты времени</a:t>
            </a:r>
            <a:endParaRPr lang="ru-RU" dirty="0">
              <a:solidFill>
                <a:schemeClr val="dk1"/>
              </a:solidFill>
              <a:latin typeface="+mj-lt"/>
              <a:ea typeface="Calibri"/>
              <a:cs typeface="Times New Roman" panose="02020603050405020304" pitchFamily="18" charset="0"/>
              <a:sym typeface="Calibri"/>
            </a:endParaRPr>
          </a:p>
          <a:p>
            <a:endParaRPr lang="ru-RU" dirty="0"/>
          </a:p>
        </p:txBody>
      </p:sp>
      <p:graphicFrame>
        <p:nvGraphicFramePr>
          <p:cNvPr id="3" name="Google Shape;78;p16">
            <a:extLst>
              <a:ext uri="{FF2B5EF4-FFF2-40B4-BE49-F238E27FC236}">
                <a16:creationId xmlns:a16="http://schemas.microsoft.com/office/drawing/2014/main" id="{65E277F5-9E44-1351-3F2E-06542D3056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70427"/>
              </p:ext>
            </p:extLst>
          </p:nvPr>
        </p:nvGraphicFramePr>
        <p:xfrm>
          <a:off x="4635741" y="1746623"/>
          <a:ext cx="4206225" cy="768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 dirty="0">
                          <a:solidFill>
                            <a:srgbClr val="FFFFFF"/>
                          </a:solidFill>
                        </a:rPr>
                        <a:t>AMI</a:t>
                      </a:r>
                      <a:endParaRPr sz="10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 dirty="0">
                          <a:solidFill>
                            <a:srgbClr val="FFFFFF"/>
                          </a:solidFill>
                        </a:rPr>
                        <a:t>Award</a:t>
                      </a:r>
                      <a:endParaRPr sz="10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 dirty="0">
                          <a:solidFill>
                            <a:srgbClr val="FFFFFF"/>
                          </a:solidFill>
                        </a:rPr>
                        <a:t>Phoenix</a:t>
                      </a:r>
                      <a:endParaRPr sz="10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900"/>
                        <a:buFont typeface="Calibri"/>
                        <a:buNone/>
                      </a:pPr>
                      <a:r>
                        <a:rPr lang="ru" sz="900" u="none" strike="noStrike" cap="none" dirty="0">
                          <a:solidFill>
                            <a:srgbClr val="1C2833"/>
                          </a:solidFill>
                        </a:rPr>
                        <a:t>Настройка таймера 8254</a:t>
                      </a:r>
                      <a:endParaRPr sz="9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900"/>
                        <a:buFont typeface="Calibri"/>
                        <a:buNone/>
                      </a:pPr>
                      <a:r>
                        <a:rPr lang="ru" sz="900" u="none" strike="noStrike" cap="none" dirty="0">
                          <a:solidFill>
                            <a:srgbClr val="1C2833"/>
                          </a:solidFill>
                        </a:rPr>
                        <a:t>Флаг входа в Setup</a:t>
                      </a:r>
                      <a:endParaRPr sz="9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900"/>
                        <a:buFont typeface="Calibri"/>
                        <a:buNone/>
                      </a:pPr>
                      <a:r>
                        <a:rPr lang="ru" sz="900" u="none" strike="noStrike" cap="none" dirty="0">
                          <a:solidFill>
                            <a:srgbClr val="1C2833"/>
                          </a:solidFill>
                        </a:rPr>
                        <a:t>Настройка PCI-PCI мостов</a:t>
                      </a:r>
                      <a:endParaRPr sz="9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9E671C-A4BE-9C70-B672-71849A300B3D}"/>
              </a:ext>
            </a:extLst>
          </p:cNvPr>
          <p:cNvSpPr txBox="1"/>
          <p:nvPr/>
        </p:nvSpPr>
        <p:spPr>
          <a:xfrm>
            <a:off x="4572000" y="1223403"/>
            <a:ext cx="457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Пример: POST-код 0x3C у разных производителей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5B214-F895-6A54-3F01-8AE4D793BEC2}"/>
              </a:ext>
            </a:extLst>
          </p:cNvPr>
          <p:cNvSpPr txBox="1"/>
          <p:nvPr/>
        </p:nvSpPr>
        <p:spPr>
          <a:xfrm>
            <a:off x="552312" y="4165780"/>
            <a:ext cx="83771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900"/>
              <a:buFont typeface="Calibri"/>
              <a:buNone/>
            </a:pPr>
            <a:r>
              <a:rPr lang="ru-RU" sz="1400" b="1" dirty="0">
                <a:solidFill>
                  <a:srgbClr val="707B7C"/>
                </a:solidFill>
                <a:latin typeface="+mj-lt"/>
                <a:ea typeface="Calibri"/>
                <a:cs typeface="Calibri"/>
                <a:sym typeface="Calibri"/>
              </a:rPr>
              <a:t>Объект</a:t>
            </a:r>
            <a:r>
              <a:rPr lang="ru-RU" sz="1400" dirty="0">
                <a:solidFill>
                  <a:srgbClr val="707B7C"/>
                </a:solidFill>
                <a:latin typeface="+mj-lt"/>
                <a:ea typeface="Calibri"/>
                <a:cs typeface="Calibri"/>
                <a:sym typeface="Calibri"/>
              </a:rPr>
              <a:t>: процесс первичной аппаратной диагностики ПК по POST-кодам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900"/>
              <a:buFont typeface="Calibri"/>
              <a:buNone/>
            </a:pPr>
            <a:endParaRPr lang="ru-RU" sz="1400" dirty="0">
              <a:solidFill>
                <a:srgbClr val="707B7C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900"/>
              <a:buFont typeface="Calibri"/>
              <a:buNone/>
            </a:pPr>
            <a:r>
              <a:rPr lang="ru-RU" sz="1400" b="1" dirty="0">
                <a:solidFill>
                  <a:srgbClr val="707B7C"/>
                </a:solidFill>
                <a:latin typeface="+mj-lt"/>
                <a:ea typeface="Calibri"/>
                <a:cs typeface="Calibri"/>
                <a:sym typeface="Calibri"/>
              </a:rPr>
              <a:t>Предмет</a:t>
            </a:r>
            <a:r>
              <a:rPr lang="ru-RU" sz="1400" dirty="0">
                <a:solidFill>
                  <a:srgbClr val="707B7C"/>
                </a:solidFill>
                <a:latin typeface="+mj-lt"/>
                <a:ea typeface="Calibri"/>
                <a:cs typeface="Calibri"/>
                <a:sym typeface="Calibri"/>
              </a:rPr>
              <a:t>: методы и средства автоматической интерпретации POST-кодов с помощью LLM</a:t>
            </a:r>
            <a:endParaRPr lang="ru-RU" sz="14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874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C086E67E-E5CC-CF66-8457-4DF7C5FBA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6A77F461-862F-131C-9B73-1798CB3F66F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930A2B-3B44-FD8E-420F-7B5371EFCAC3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476EB0D-4F55-D67E-A106-4B7AD48D3427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0182C33-4862-158C-B97E-FD2CA6DFC5BC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A741D6E-A1C4-45D7-8C23-3EAB90C44666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760543F-85D8-0E02-47ED-4896511DD0A4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16442D70-687C-2E8F-B7BD-A91B7C3CF75E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F8A373-AF7F-F96B-D94A-8B116EF8CACD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9579F748-D245-392C-A4B2-249B376AF384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81BD1F5F-6DD8-CABD-820B-C9A19EA75957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3</a:t>
            </a:r>
            <a:endParaRPr lang="ru-RU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A6C59AC2-3961-5324-A8CB-45BF184101C9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  <a:buFont typeface="Arial" panose="020B0604020202020204"/>
              <a:buNone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Цели и задачи работы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00E4C-E3CF-6C6E-7DC6-341E056C39AA}"/>
              </a:ext>
            </a:extLst>
          </p:cNvPr>
          <p:cNvSpPr txBox="1"/>
          <p:nvPr/>
        </p:nvSpPr>
        <p:spPr>
          <a:xfrm>
            <a:off x="300980" y="1223403"/>
            <a:ext cx="42710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Цель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BE6F4-BB72-7F76-126F-413FBC38D09B}"/>
              </a:ext>
            </a:extLst>
          </p:cNvPr>
          <p:cNvSpPr txBox="1"/>
          <p:nvPr/>
        </p:nvSpPr>
        <p:spPr>
          <a:xfrm>
            <a:off x="4572000" y="1223403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Задачи</a:t>
            </a:r>
          </a:p>
        </p:txBody>
      </p:sp>
      <p:sp>
        <p:nvSpPr>
          <p:cNvPr id="5" name="Google Shape;85;p17">
            <a:extLst>
              <a:ext uri="{FF2B5EF4-FFF2-40B4-BE49-F238E27FC236}">
                <a16:creationId xmlns:a16="http://schemas.microsoft.com/office/drawing/2014/main" id="{CC5E171B-B8D6-C3E6-2C45-0655F9491116}"/>
              </a:ext>
            </a:extLst>
          </p:cNvPr>
          <p:cNvSpPr/>
          <p:nvPr/>
        </p:nvSpPr>
        <p:spPr>
          <a:xfrm>
            <a:off x="300980" y="1788175"/>
            <a:ext cx="3897251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lang="ru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Разработать аппаратно-программный модуль на базе ESP32 для считывания POST-кодов с POST-карты (CH311L), передачи по Wi-Fi и получения структурированной интерпретации от LLM.</a:t>
            </a:r>
            <a:endParaRPr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6;p17">
            <a:extLst>
              <a:ext uri="{FF2B5EF4-FFF2-40B4-BE49-F238E27FC236}">
                <a16:creationId xmlns:a16="http://schemas.microsoft.com/office/drawing/2014/main" id="{8C8D8232-9E1C-D185-B875-D7FF14877E31}"/>
              </a:ext>
            </a:extLst>
          </p:cNvPr>
          <p:cNvSpPr/>
          <p:nvPr/>
        </p:nvSpPr>
        <p:spPr>
          <a:xfrm>
            <a:off x="4572000" y="1592735"/>
            <a:ext cx="4160400" cy="24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Задача 1. Реверс-инжиниринг POST-карты CH311L и разработка схемы подключения к ESP32</a:t>
            </a:r>
            <a:endParaRPr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Задача 2. Реализация прошивки ESP32: считывание POST-кода, HTTP-сервер, запрос к LLM</a:t>
            </a:r>
            <a:endParaRPr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Задача 3. Создание агента LLM в Yandex Cloud (DeepSeek) с системным промптом</a:t>
            </a:r>
            <a:endParaRPr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Задача 4. Испытания на реальном оборудовании и подтверждение корректности работы комплекса</a:t>
            </a:r>
            <a:endParaRPr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683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2BFCA045-EC80-D194-B240-F32FDBB7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758CCA33-A29D-3D14-2125-02983BC85FD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504D997-0FF4-E3BA-9FE2-2287CBC44048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73E8A84-8AF2-DAD1-EE64-599F442126DB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D6BD4EB-C087-8BC0-37F8-3027B95E0059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2738613-3EB0-A4D3-C7D5-3A2F51140831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D58067E-C7C1-022E-674E-788D27DEB658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3C82D94B-60B1-BD7B-DB9C-EE21C41F38A6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29C7C6F-F412-53F0-FA1F-153034C31230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3CB2CA9C-B8F2-A0DE-C2D8-DF72A4F24FE2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9D449323-62CF-AC40-B282-573262B19833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4</a:t>
            </a:r>
            <a:endParaRPr lang="ru-RU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23069E78-E56A-D1FC-436F-A722CD59A723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  <a:buFont typeface="Arial" panose="020B0604020202020204"/>
              <a:buNone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Подходы к интерпретации </a:t>
            </a:r>
            <a:r>
              <a:rPr lang="en-US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POST-</a:t>
            </a: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кодов</a:t>
            </a:r>
          </a:p>
        </p:txBody>
      </p:sp>
      <p:graphicFrame>
        <p:nvGraphicFramePr>
          <p:cNvPr id="3" name="Google Shape;103;p18">
            <a:extLst>
              <a:ext uri="{FF2B5EF4-FFF2-40B4-BE49-F238E27FC236}">
                <a16:creationId xmlns:a16="http://schemas.microsoft.com/office/drawing/2014/main" id="{555D0AC7-1EB5-B289-98CC-2EDA2AD855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1505700"/>
              </p:ext>
            </p:extLst>
          </p:nvPr>
        </p:nvGraphicFramePr>
        <p:xfrm>
          <a:off x="274320" y="1167640"/>
          <a:ext cx="8595375" cy="3499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 dirty="0">
                          <a:solidFill>
                            <a:srgbClr val="FFFFFF"/>
                          </a:solidFill>
                          <a:latin typeface="+mj-lt"/>
                        </a:rPr>
                        <a:t>Подход</a:t>
                      </a:r>
                      <a:endParaRPr sz="1100" u="none" strike="noStrike" cap="none" dirty="0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>
                          <a:solidFill>
                            <a:srgbClr val="FFFFFF"/>
                          </a:solidFill>
                          <a:latin typeface="+mj-lt"/>
                        </a:rPr>
                        <a:t>Достоверность</a:t>
                      </a:r>
                      <a:endParaRPr sz="11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>
                          <a:solidFill>
                            <a:srgbClr val="FFFFFF"/>
                          </a:solidFill>
                          <a:latin typeface="+mj-lt"/>
                        </a:rPr>
                        <a:t>Гибкость</a:t>
                      </a:r>
                      <a:endParaRPr sz="11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>
                          <a:solidFill>
                            <a:srgbClr val="FFFFFF"/>
                          </a:solidFill>
                          <a:latin typeface="+mj-lt"/>
                        </a:rPr>
                        <a:t>Скорость</a:t>
                      </a:r>
                      <a:endParaRPr sz="11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>
                          <a:solidFill>
                            <a:srgbClr val="FFFFFF"/>
                          </a:solidFill>
                          <a:latin typeface="+mj-lt"/>
                        </a:rPr>
                        <a:t>Актуальность</a:t>
                      </a:r>
                      <a:endParaRPr sz="11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>
                          <a:solidFill>
                            <a:srgbClr val="0D1B3E"/>
                          </a:solidFill>
                          <a:latin typeface="+mj-lt"/>
                        </a:rPr>
                        <a:t>Официальная документация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  <a:latin typeface="+mj-lt"/>
                        </a:rPr>
                        <a:t>Высокая</a:t>
                      </a:r>
                      <a:endParaRPr sz="1000" u="none" strike="noStrike" cap="none" dirty="0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Низкая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Средняя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Средняя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>
                          <a:solidFill>
                            <a:srgbClr val="0D1B3E"/>
                          </a:solidFill>
                          <a:latin typeface="+mj-lt"/>
                        </a:rPr>
                        <a:t>Вторичные источники (форумы)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Средняя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Средняя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  <a:latin typeface="+mj-lt"/>
                        </a:rPr>
                        <a:t>Низкая</a:t>
                      </a:r>
                      <a:endParaRPr sz="1000" u="none" strike="noStrike" cap="none" dirty="0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Высокая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>
                          <a:solidFill>
                            <a:srgbClr val="0D1B3E"/>
                          </a:solidFill>
                          <a:latin typeface="+mj-lt"/>
                        </a:rPr>
                        <a:t>Локальные справочники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Средняя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Средняя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Высокая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  <a:latin typeface="+mj-lt"/>
                        </a:rPr>
                        <a:t>Низкая</a:t>
                      </a:r>
                      <a:endParaRPr sz="1000" u="none" strike="noStrike" cap="none" dirty="0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>
                          <a:solidFill>
                            <a:srgbClr val="0D1B3E"/>
                          </a:solidFill>
                          <a:latin typeface="+mj-lt"/>
                        </a:rPr>
                        <a:t>Облачные языковые модели (LLM)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Средне-высокая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Высокая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  <a:latin typeface="+mj-lt"/>
                        </a:rPr>
                        <a:t>Высокая</a:t>
                      </a:r>
                      <a:endParaRPr sz="10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  <a:latin typeface="+mj-lt"/>
                        </a:rPr>
                        <a:t>Высокая</a:t>
                      </a:r>
                      <a:endParaRPr sz="1000" u="none" strike="noStrike" cap="none" dirty="0">
                        <a:latin typeface="+mj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15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18C3AE0F-C314-16A5-3933-FBC742B3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C26C627B-529A-1B20-BAA2-CEEC3F66EB9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66E8E62-59C6-F402-992E-8707FC2B3585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F750BA8-D427-4DC9-852C-8EF4CB225547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EDF956BB-CF58-8A54-28AA-E94F97B62E50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5184BC7-4CAA-36CE-C671-06EF1D740DFE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761C71C-1B8B-BD21-4595-BBD7FC0E4DBE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F22D23A-7C54-EC30-8921-EE476775398D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AC0E6BD-162C-DDBF-6968-0874950E3062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8D1EE4E-9F64-F015-91DF-555553F4B85C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BE13F5C3-3430-32A3-E44B-4471EB2743B6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5</a:t>
            </a:r>
            <a:endParaRPr lang="ru-RU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83EA1015-E734-1C12-8DE8-FBD823085710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  <a:buFont typeface="Arial" panose="020B0604020202020204"/>
              <a:buNone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Анализ существующих решений</a:t>
            </a:r>
          </a:p>
        </p:txBody>
      </p:sp>
      <p:graphicFrame>
        <p:nvGraphicFramePr>
          <p:cNvPr id="4" name="Google Shape;103;p18">
            <a:extLst>
              <a:ext uri="{FF2B5EF4-FFF2-40B4-BE49-F238E27FC236}">
                <a16:creationId xmlns:a16="http://schemas.microsoft.com/office/drawing/2014/main" id="{6F0ECA54-BE2E-858E-AE58-FD63544C01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5809693"/>
              </p:ext>
            </p:extLst>
          </p:nvPr>
        </p:nvGraphicFramePr>
        <p:xfrm>
          <a:off x="274320" y="1167640"/>
          <a:ext cx="8595375" cy="3499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 dirty="0">
                          <a:solidFill>
                            <a:srgbClr val="FFFFFF"/>
                          </a:solidFill>
                        </a:rPr>
                        <a:t>Решение</a:t>
                      </a:r>
                      <a:endParaRPr sz="11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>
                          <a:solidFill>
                            <a:srgbClr val="FFFFFF"/>
                          </a:solidFill>
                        </a:rPr>
                        <a:t>Наличие </a:t>
                      </a:r>
                      <a:r>
                        <a:rPr lang="ru" sz="1100" b="1" u="none" strike="noStrike" cap="none">
                          <a:solidFill>
                            <a:srgbClr val="FFFFFF"/>
                          </a:solidFill>
                        </a:rPr>
                        <a:t>ПО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>
                          <a:solidFill>
                            <a:srgbClr val="FFFFFF"/>
                          </a:solidFill>
                        </a:rPr>
                        <a:t>Точность </a:t>
                      </a:r>
                      <a:r>
                        <a:rPr lang="ru" sz="1100" b="1">
                          <a:solidFill>
                            <a:srgbClr val="FFFFFF"/>
                          </a:solidFill>
                        </a:rPr>
                        <a:t>интерпретации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>
                          <a:solidFill>
                            <a:srgbClr val="FFFFFF"/>
                          </a:solidFill>
                        </a:rPr>
                        <a:t>Подсказки для </a:t>
                      </a:r>
                      <a:r>
                        <a:rPr lang="ru" sz="1100" b="1">
                          <a:solidFill>
                            <a:srgbClr val="FFFFFF"/>
                          </a:solidFill>
                        </a:rPr>
                        <a:t>диагностики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ru" sz="1100" b="1" u="none" strike="noStrike" cap="none">
                          <a:solidFill>
                            <a:srgbClr val="FFFFFF"/>
                          </a:solidFill>
                        </a:rPr>
                        <a:t>Стоимость решения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>
                          <a:solidFill>
                            <a:srgbClr val="0D1B3E"/>
                          </a:solidFill>
                        </a:rPr>
                        <a:t>Базовая POST-карта + документация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Средняя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—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Низкая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>
                          <a:solidFill>
                            <a:srgbClr val="0D1B3E"/>
                          </a:solidFill>
                        </a:rPr>
                        <a:t>Базовая POST-карта + внешние источники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—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Высокая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+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Низкая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>
                          <a:solidFill>
                            <a:srgbClr val="0D1B3E"/>
                          </a:solidFill>
                        </a:rPr>
                        <a:t>POST-карта Kqcpet6-V8 + приложение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+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</a:rPr>
                        <a:t>Низкая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dirty="0">
                          <a:solidFill>
                            <a:srgbClr val="1C2833"/>
                          </a:solidFill>
                        </a:rPr>
                        <a:t>+</a:t>
                      </a:r>
                      <a:endParaRPr sz="1000" dirty="0">
                        <a:solidFill>
                          <a:srgbClr val="1C2833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dirty="0">
                          <a:solidFill>
                            <a:srgbClr val="1C2833"/>
                          </a:solidFill>
                        </a:rPr>
                        <a:t>(но н</a:t>
                      </a: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</a:rPr>
                        <a:t>екорректны)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Высокая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b="1" u="none" strike="noStrike" cap="none" dirty="0">
                          <a:solidFill>
                            <a:srgbClr val="0D1B3E"/>
                          </a:solidFill>
                        </a:rPr>
                        <a:t>Предлагаемое решение (ESP32 + LLM)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+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>
                          <a:solidFill>
                            <a:srgbClr val="1C2833"/>
                          </a:solidFill>
                        </a:rPr>
                        <a:t>Высокая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</a:rPr>
                        <a:t>+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000" u="none" strike="noStrike" cap="none" dirty="0">
                          <a:solidFill>
                            <a:srgbClr val="1C2833"/>
                          </a:solidFill>
                        </a:rPr>
                        <a:t>Низкая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73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12133EE-44F1-4CF4-AF11-DFA0A0A4E378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487B6D6-1002-488C-9620-0549FAFB206A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00F2CFF-5448-4752-85D4-440792229404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B5FB690-332F-4983-B3E8-34552B11A787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41A9233-C085-4F77-9AA3-4198812515DA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DCE47ED2-46A2-4361-A7AE-DA1BBC83E901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82B1670-0BA5-4702-87CD-DF782A9E859B}"/>
              </a:ext>
            </a:extLst>
          </p:cNvPr>
          <p:cNvSpPr txBox="1"/>
          <p:nvPr/>
        </p:nvSpPr>
        <p:spPr>
          <a:xfrm>
            <a:off x="5115440" y="163520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5BF424D-DEED-4E7E-BB6A-B571DDB6F4BD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068164D3-2415-4E1C-A6F5-B265294C8ADA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3755DF88-EBCE-4235-90FD-A56F8CAA224A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  <a:buFont typeface="Arial" panose="020B0604020202020204"/>
              <a:buNone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Целевая архитектура системы</a:t>
            </a:r>
          </a:p>
        </p:txBody>
      </p:sp>
      <p:pic>
        <p:nvPicPr>
          <p:cNvPr id="2" name="Google Shape;123;p20">
            <a:extLst>
              <a:ext uri="{FF2B5EF4-FFF2-40B4-BE49-F238E27FC236}">
                <a16:creationId xmlns:a16="http://schemas.microsoft.com/office/drawing/2014/main" id="{96E9D5C1-2051-C60A-7BB3-D986320CCA2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725" y="1019750"/>
            <a:ext cx="6311426" cy="39720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4;p20">
            <a:extLst>
              <a:ext uri="{FF2B5EF4-FFF2-40B4-BE49-F238E27FC236}">
                <a16:creationId xmlns:a16="http://schemas.microsoft.com/office/drawing/2014/main" id="{0A35F0B8-9FA5-C491-B845-D252AE678FA7}"/>
              </a:ext>
            </a:extLst>
          </p:cNvPr>
          <p:cNvSpPr/>
          <p:nvPr/>
        </p:nvSpPr>
        <p:spPr>
          <a:xfrm>
            <a:off x="5733355" y="1908893"/>
            <a:ext cx="3051113" cy="155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950"/>
              <a:buFont typeface="Calibri"/>
              <a:buNone/>
            </a:pPr>
            <a:r>
              <a:rPr lang="ru" dirty="0">
                <a:solidFill>
                  <a:srgbClr val="707B7C"/>
                </a:solidFill>
                <a:latin typeface="+mj-lt"/>
                <a:ea typeface="Calibri"/>
                <a:cs typeface="Calibri"/>
                <a:sym typeface="Calibri"/>
              </a:rPr>
              <a:t>Данные: PCI → CH311L → ESP32 → Wi-Fi → </a:t>
            </a:r>
            <a:r>
              <a:rPr lang="ru" dirty="0">
                <a:solidFill>
                  <a:srgbClr val="707B7C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Yandex</a:t>
            </a:r>
            <a:r>
              <a:rPr lang="ru" dirty="0">
                <a:solidFill>
                  <a:srgbClr val="707B7C"/>
                </a:solidFill>
                <a:latin typeface="+mj-lt"/>
                <a:ea typeface="Calibri"/>
                <a:cs typeface="Calibri"/>
                <a:sym typeface="Calibri"/>
              </a:rPr>
              <a:t> Cloud (LLM) → Браузер пользователя</a:t>
            </a:r>
            <a:endParaRPr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51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0CE31F1-9D16-D962-5005-5F2D2F3A7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0CD9FEF3-7070-84A1-EB7D-0BE702E8614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D989FECA-937C-C64D-C2D1-F7C3FB461299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5C44B73-6A46-742F-8231-72BFF0D91C07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7C5E7E47-0C45-E56D-3194-04D6EBBBE131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0940C3C-1C7C-D83D-C72C-117892A014B4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6F1FBB4-BFB1-F666-84C0-591BD0C4A194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ADCD3EF2-140E-123C-4050-B4F87C3E377B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A44776D-3A10-903A-9308-A2A0AF3A2CFF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5F46564B-B655-43FE-0375-D0059E75260D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91675FB1-639C-691F-267B-F8B5AEEBC057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E92BE1C1-49D1-C51A-C712-DB636E38214F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Обратная разработка </a:t>
            </a:r>
            <a:r>
              <a:rPr lang="en-US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POST-</a:t>
            </a: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карты </a:t>
            </a:r>
            <a:r>
              <a:rPr lang="en-US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CH311L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41F18-8691-1FBA-E0A4-02672AAAAF63}"/>
              </a:ext>
            </a:extLst>
          </p:cNvPr>
          <p:cNvSpPr txBox="1"/>
          <p:nvPr/>
        </p:nvSpPr>
        <p:spPr>
          <a:xfrm>
            <a:off x="300980" y="1223403"/>
            <a:ext cx="3366145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Методика и результаты</a:t>
            </a:r>
            <a:endParaRPr lang="en-US" dirty="0"/>
          </a:p>
          <a:p>
            <a:endParaRPr lang="ru-RU" dirty="0"/>
          </a:p>
          <a:p>
            <a:pPr marL="177800" lvl="0" indent="-177800"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CH311L — закрытый чип, официальная документация отсутствует</a:t>
            </a:r>
            <a:endParaRPr lang="ru-RU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>
              <a:spcBef>
                <a:spcPts val="400"/>
              </a:spcBef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Прозвон цепей от разъёма PCI до выводов индикатора</a:t>
            </a:r>
            <a:endParaRPr lang="ru-RU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>
              <a:spcBef>
                <a:spcPts val="400"/>
              </a:spcBef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Выводы 4–10: сегменты a–g </a:t>
            </a:r>
            <a:r>
              <a:rPr lang="ru-RU" dirty="0" err="1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семисегментного</a:t>
            </a: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 индикатора</a:t>
            </a:r>
            <a:endParaRPr lang="ru-RU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>
              <a:spcBef>
                <a:spcPts val="400"/>
              </a:spcBef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Выводы 11,12,13,17: разряды D1–D4 (мультиплексирование)</a:t>
            </a:r>
            <a:endParaRPr lang="ru-RU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>
              <a:spcBef>
                <a:spcPts val="400"/>
              </a:spcBef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Питание CH311L: 3.3 В → согласование с ESP32 не требуется</a:t>
            </a:r>
            <a:endParaRPr lang="ru-RU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>
              <a:spcBef>
                <a:spcPts val="400"/>
              </a:spcBef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Задокументированы все 64 вывода CH311L</a:t>
            </a:r>
            <a:endParaRPr lang="ru-RU" dirty="0"/>
          </a:p>
        </p:txBody>
      </p:sp>
      <p:pic>
        <p:nvPicPr>
          <p:cNvPr id="5" name="Google Shape;138;p21" descr="preencoded.png">
            <a:extLst>
              <a:ext uri="{FF2B5EF4-FFF2-40B4-BE49-F238E27FC236}">
                <a16:creationId xmlns:a16="http://schemas.microsoft.com/office/drawing/2014/main" id="{7DB4C1FC-A577-A2FD-B5DD-4B3612D822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7125" y="1055997"/>
            <a:ext cx="5232474" cy="401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288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23D4C994-5B21-E635-0363-A8BB76C5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4;p22" descr="preencoded.png">
            <a:extLst>
              <a:ext uri="{FF2B5EF4-FFF2-40B4-BE49-F238E27FC236}">
                <a16:creationId xmlns:a16="http://schemas.microsoft.com/office/drawing/2014/main" id="{3084D83D-DC40-3433-E715-1392ADFA34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1014" y="749930"/>
            <a:ext cx="4998986" cy="376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5D3D349C-AB3B-E48B-10F5-F933DF3052E7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8F7C4B04-AE3C-AC6A-8055-ADE0F24C8720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1EF21DB-AB15-0440-A1F5-560306EF4172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F02EB06-31AA-905C-49C3-F066ABA7E98C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42E820C-F2E6-229C-9A74-3D0876B3072D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3746665-2BAC-0788-F2A6-030AF6861815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C1D68F5B-D615-C394-CE1A-54840B31CC78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03FF6EA-B5AE-2F36-4ABB-289E2D7ADBDA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1133A51C-4E8A-F400-0201-BAFCB4A3F57D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6228ECF5-EFC0-CB45-8FF9-8023DD5AF5E1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D5B7A110-E771-CCA0-4DF5-67E70BF096D0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Программная реализация прошивки </a:t>
            </a:r>
            <a:r>
              <a:rPr lang="en-US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ESP32</a:t>
            </a:r>
          </a:p>
        </p:txBody>
      </p:sp>
      <p:sp>
        <p:nvSpPr>
          <p:cNvPr id="2" name="CodeCard"/>
          <p:cNvSpPr/>
          <p:nvPr/>
        </p:nvSpPr>
        <p:spPr>
          <a:xfrm>
            <a:off x="240000" y="1014000"/>
            <a:ext cx="3531014" cy="399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8000" tIns="80000" rIns="90000" bIns="60000" rtlCol="0">
            <a:noAutofit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0E749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1. Декодирование сегментов в цифру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decodeDigit(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seg[</a:t>
            </a:r>
            <a:r>
              <a:rPr lang="en-US" sz="750" dirty="0">
                <a:solidFill>
                  <a:srgbClr val="B453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{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uint8_t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mask = </a:t>
            </a:r>
            <a:r>
              <a:rPr lang="en-US" sz="750" dirty="0">
                <a:solidFill>
                  <a:srgbClr val="B453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= </a:t>
            </a:r>
            <a:r>
              <a:rPr lang="en-US" sz="750" dirty="0">
                <a:solidFill>
                  <a:srgbClr val="B453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 &lt; </a:t>
            </a:r>
            <a:r>
              <a:rPr lang="en-US" sz="750" dirty="0">
                <a:solidFill>
                  <a:srgbClr val="B453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i++)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(seg[i]) mask |= (</a:t>
            </a:r>
            <a:r>
              <a:rPr lang="en-US" sz="750" dirty="0">
                <a:solidFill>
                  <a:srgbClr val="B453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i);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(mask) { /* </a:t>
            </a:r>
            <a:r>
              <a:rPr lang="en-US" sz="750" dirty="0">
                <a:solidFill>
                  <a:srgbClr val="B453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  <a:r>
              <a:rPr lang="en-US" sz="750" dirty="0">
                <a:solidFill>
                  <a:srgbClr val="B453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A..F */ }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45000"/>
              </a:lnSpc>
              <a:buNone/>
            </a:pPr>
            <a:endParaRPr lang="en-US" sz="450" dirty="0"/>
          </a:p>
          <a:p>
            <a:pPr marL="0" indent="0">
              <a:lnSpc>
                <a:spcPct val="92000"/>
              </a:lnSpc>
              <a:buNone/>
            </a:pPr>
            <a:endParaRPr lang="en-US" sz="750" b="1" dirty="0">
              <a:solidFill>
                <a:srgbClr val="0E749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2000"/>
              </a:lnSpc>
              <a:buNone/>
            </a:pPr>
            <a:endParaRPr lang="en-US" sz="750" b="1" dirty="0">
              <a:solidFill>
                <a:srgbClr val="0E749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2000"/>
              </a:lnSpc>
              <a:buNone/>
            </a:pPr>
            <a:endParaRPr lang="en-US" sz="750" b="1" dirty="0">
              <a:solidFill>
                <a:srgbClr val="0E749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2000"/>
              </a:lnSpc>
              <a:buNone/>
            </a:pPr>
            <a:endParaRPr lang="en-US" sz="750" b="1" dirty="0">
              <a:solidFill>
                <a:srgbClr val="0E749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2000"/>
              </a:lnSpc>
              <a:buNone/>
            </a:pPr>
            <a:endParaRPr lang="en-US" sz="750" b="1" dirty="0">
              <a:solidFill>
                <a:srgbClr val="0E749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0E749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2. Сборка кода и анализ перехода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pollPostCode() {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raw = readRawPostCode();  </a:t>
            </a:r>
            <a:r>
              <a:rPr lang="en-US" sz="750" dirty="0">
                <a:solidFill>
                  <a:srgbClr val="6B72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опрос GPIO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now = millis();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(raw.length() &gt; </a:t>
            </a:r>
            <a:r>
              <a:rPr lang="en-US" sz="750" dirty="0">
                <a:solidFill>
                  <a:srgbClr val="B453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g_lastSignalMs = now;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mergeFrame(raw);               </a:t>
            </a:r>
            <a:r>
              <a:rPr lang="en-US" sz="750" dirty="0">
                <a:solidFill>
                  <a:srgbClr val="6B72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склейка разрядов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(isFullCode(g_assemblingCode) &amp;&amp;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g_assemblingCode != g_currentCode) {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750" dirty="0">
                <a:solidFill>
                  <a:srgbClr val="6B72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прежний код держался долго -&gt; устойчив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(now - g_codeStartMs &gt;= kMinStableMs)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g_lastStableCode = g_currentCode;  </a:t>
            </a:r>
            <a:r>
              <a:rPr lang="en-US" sz="750" dirty="0">
                <a:solidFill>
                  <a:srgbClr val="6B72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предыдущий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g_currentCode = g_assemblingCode;    </a:t>
            </a:r>
            <a:r>
              <a:rPr lang="en-US" sz="750" dirty="0">
                <a:solidFill>
                  <a:srgbClr val="6B72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текущий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g_codeStartMs = g_lastChangeMs = now;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dirty="0">
                <a:solidFill>
                  <a:srgbClr val="6B72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код не меняется -&gt; POST завершён успешно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(now - g_lastChangeMs &gt;= kFinalizeTimeoutMs)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g_finalCode = g_currentCode;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dirty="0">
                <a:solidFill>
                  <a:srgbClr val="6B72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сигнал пропал -&gt; POST прерван (зависание)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50" b="1" dirty="0">
                <a:solidFill>
                  <a:srgbClr val="1D4ED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(now - g_lastSignalMs &gt;= kSignalLostMs)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g_captureStopped = true;</a:t>
            </a:r>
          </a:p>
          <a:p>
            <a:pPr marL="0" indent="0">
              <a:lnSpc>
                <a:spcPct val="92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DeployNote"/>
          <p:cNvSpPr txBox="1"/>
          <p:nvPr/>
        </p:nvSpPr>
        <p:spPr>
          <a:xfrm>
            <a:off x="3848986" y="4511467"/>
            <a:ext cx="5055014" cy="493174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 w="9525">
            <a:solidFill>
              <a:srgbClr val="C7D3EA"/>
            </a:solidFill>
          </a:ln>
        </p:spPr>
        <p:txBody>
          <a:bodyPr wrap="square" lIns="110000" tIns="70000" rIns="100000" bIns="60000" rtlCol="0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ru-RU" sz="1000" b="1" dirty="0">
                <a:solidFill>
                  <a:srgbClr val="1C2833"/>
                </a:solidFill>
                <a:latin typeface="+mn-lt"/>
              </a:rPr>
              <a:t>Развёртывание: </a:t>
            </a:r>
            <a:r>
              <a:rPr lang="ru-RU" sz="1000" dirty="0">
                <a:solidFill>
                  <a:srgbClr val="3A4658"/>
                </a:solidFill>
                <a:latin typeface="+mn-lt"/>
              </a:rPr>
              <a:t>в интернет выходит только ESP32 — диагностируемый ПК может быть без ОС и сети.</a:t>
            </a:r>
          </a:p>
        </p:txBody>
      </p:sp>
    </p:spTree>
    <p:extLst>
      <p:ext uri="{BB962C8B-B14F-4D97-AF65-F5344CB8AC3E}">
        <p14:creationId xmlns:p14="http://schemas.microsoft.com/office/powerpoint/2010/main" val="155355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6FEF20E8-88D6-2339-39B8-88B02ABC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DF72640D-5BAB-5CF0-0EFA-F1F2E3901ED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17121E53-A956-A40D-D8E4-65D853B25D1D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8842372-7F21-5DA2-E27D-D543788E6DC8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EF44D350-5A5F-80FA-9AAD-4C5BF94971BD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CD30627-29FB-F4E1-2EE5-36AB26A38970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3F2DF23-2892-25CD-9375-188A92AA9291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C94BE388-B2B2-CBC0-1C37-771AFB7083AF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F7D31C8-3EAB-E13A-EFB3-54AAE1CE98CD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028C9E52-6421-1562-E53B-AB3558018A23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B414B5AC-73B3-AEA6-6759-C3E277861B77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663BBE45-42A1-8852-57CA-6B0273F86B4F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Интеграция с </a:t>
            </a:r>
            <a:r>
              <a:rPr lang="en-US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LLM: </a:t>
            </a: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агент </a:t>
            </a:r>
            <a:r>
              <a:rPr lang="en-US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Yandex Cloud (DeepSeek)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B5F24-47E5-2909-2622-EE015D06B187}"/>
              </a:ext>
            </a:extLst>
          </p:cNvPr>
          <p:cNvSpPr txBox="1"/>
          <p:nvPr/>
        </p:nvSpPr>
        <p:spPr>
          <a:xfrm>
            <a:off x="300978" y="1102528"/>
            <a:ext cx="3573495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Платформа и модель</a:t>
            </a:r>
            <a:r>
              <a:rPr lang="en-US" dirty="0"/>
              <a:t>:</a:t>
            </a:r>
            <a:endParaRPr lang="ru-RU" dirty="0"/>
          </a:p>
          <a:p>
            <a:pPr marL="177800" lvl="0" indent="-177800">
              <a:buClr>
                <a:srgbClr val="1C2833"/>
              </a:buClr>
              <a:buSzPts val="1150"/>
              <a:buFont typeface="Calibri"/>
              <a:buChar char="•"/>
            </a:pPr>
            <a:r>
              <a:rPr lang="en-US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Yandex AI Studio — </a:t>
            </a: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агент с системным </a:t>
            </a:r>
            <a:r>
              <a:rPr lang="ru-RU" dirty="0" err="1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промптом</a:t>
            </a: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 и шаблоном переменных</a:t>
            </a:r>
            <a:endParaRPr lang="ru-RU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7800" lvl="0" indent="-177800">
              <a:spcBef>
                <a:spcPts val="400"/>
              </a:spcBef>
              <a:buClr>
                <a:srgbClr val="1C2833"/>
              </a:buClr>
              <a:buSzPts val="115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Модель: </a:t>
            </a:r>
            <a:r>
              <a:rPr lang="en-US" dirty="0">
                <a:solidFill>
                  <a:srgbClr val="1C2833"/>
                </a:solidFill>
                <a:latin typeface="+mj-lt"/>
                <a:ea typeface="Calibri"/>
                <a:cs typeface="Calibri"/>
                <a:sym typeface="Calibri"/>
              </a:rPr>
              <a:t>DeepSeek, ai.api.cloud.yandex.net</a:t>
            </a:r>
            <a:endParaRPr lang="en-US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D2F04-4CAF-57DB-4A3F-5D70A455536D}"/>
              </a:ext>
            </a:extLst>
          </p:cNvPr>
          <p:cNvSpPr txBox="1"/>
          <p:nvPr/>
        </p:nvSpPr>
        <p:spPr>
          <a:xfrm>
            <a:off x="300978" y="2571750"/>
            <a:ext cx="3573495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Системный </a:t>
            </a:r>
            <a:r>
              <a:rPr lang="ru-RU" dirty="0" err="1"/>
              <a:t>промпт</a:t>
            </a:r>
            <a:r>
              <a:rPr lang="ru-RU" dirty="0"/>
              <a:t> задаёт</a:t>
            </a:r>
            <a:r>
              <a:rPr lang="en-US" dirty="0"/>
              <a:t>:</a:t>
            </a:r>
            <a:endParaRPr lang="ru-RU" dirty="0"/>
          </a:p>
          <a:p>
            <a:pPr marL="177800" lvl="0" indent="-177800"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Роль: ассистент диагностики материнских плат </a:t>
            </a:r>
            <a:endParaRPr lang="en-US" dirty="0">
              <a:solidFill>
                <a:srgbClr val="1C28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Вход: </a:t>
            </a:r>
            <a:r>
              <a:rPr lang="en-US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BOARD_MODEL + POST_CODE </a:t>
            </a: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Анализ перехода между кодами, учёт специфики производителя </a:t>
            </a:r>
            <a:r>
              <a:rPr lang="en-US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BIOS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>
              <a:spcBef>
                <a:spcPts val="400"/>
              </a:spcBef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Структура ответа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>
              <a:spcBef>
                <a:spcPts val="400"/>
              </a:spcBef>
              <a:buClr>
                <a:srgbClr val="1C2833"/>
              </a:buClr>
              <a:buSzPts val="1100"/>
              <a:buFont typeface="Calibri"/>
              <a:buChar char="•"/>
            </a:pPr>
            <a:r>
              <a:rPr lang="ru-RU" dirty="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Ответ на русском; запрет выдумывать значения кодов</a:t>
            </a:r>
            <a:endParaRPr lang="ru-RU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ru-RU" dirty="0"/>
          </a:p>
        </p:txBody>
      </p:sp>
      <p:pic>
        <p:nvPicPr>
          <p:cNvPr id="6" name="Google Shape;167;p23" descr="preencoded.png">
            <a:extLst>
              <a:ext uri="{FF2B5EF4-FFF2-40B4-BE49-F238E27FC236}">
                <a16:creationId xmlns:a16="http://schemas.microsoft.com/office/drawing/2014/main" id="{E6356574-BBD9-DDC6-EA9B-516C4769ED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4473" y="1005850"/>
            <a:ext cx="5040926" cy="411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304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041EC5CE-CADD-14C9-0842-FBA03F285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83943EA8-82A4-B899-2777-A6917B0C24E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4D419B9-B95A-3242-85CB-52A4039BBD2C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58C07339-5412-8C84-F189-0C8F95F0C27D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C756E4FD-B5AC-9100-60E9-82CE60F91A4D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592FEC8-407B-5A3F-4439-109C8D04E367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13CBE4B-E251-D83B-1AFF-1A919A13A39B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A754370-EA39-CCBF-7FAB-A15C02B56C19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4C8E26A-2849-1D62-BCBE-C070A7DF273F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96A92C29-060F-3F27-06F6-D5518FD9B197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589F661A-129E-7BF7-48EE-1E7EFD1A6071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10</a:t>
            </a:r>
          </a:p>
        </p:txBody>
      </p:sp>
      <p:sp>
        <p:nvSpPr>
          <p:cNvPr id="3" name="Google Shape;177;p24">
            <a:extLst>
              <a:ext uri="{FF2B5EF4-FFF2-40B4-BE49-F238E27FC236}">
                <a16:creationId xmlns:a16="http://schemas.microsoft.com/office/drawing/2014/main" id="{91852689-D6F6-A5EA-454F-769F1DA6FDC1}"/>
              </a:ext>
            </a:extLst>
          </p:cNvPr>
          <p:cNvSpPr/>
          <p:nvPr/>
        </p:nvSpPr>
        <p:spPr>
          <a:xfrm>
            <a:off x="1622999" y="1197702"/>
            <a:ext cx="2834700" cy="34740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78;p24">
            <a:extLst>
              <a:ext uri="{FF2B5EF4-FFF2-40B4-BE49-F238E27FC236}">
                <a16:creationId xmlns:a16="http://schemas.microsoft.com/office/drawing/2014/main" id="{74DA8554-04BC-2109-29A8-AE248CB8557D}"/>
              </a:ext>
            </a:extLst>
          </p:cNvPr>
          <p:cNvSpPr/>
          <p:nvPr/>
        </p:nvSpPr>
        <p:spPr>
          <a:xfrm>
            <a:off x="1687007" y="1215990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ru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Сценарий 1: Нормальный запуск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79;p24">
            <a:extLst>
              <a:ext uri="{FF2B5EF4-FFF2-40B4-BE49-F238E27FC236}">
                <a16:creationId xmlns:a16="http://schemas.microsoft.com/office/drawing/2014/main" id="{423CBE2C-308E-719D-4A4B-6EC2F7CA7FCE}"/>
              </a:ext>
            </a:extLst>
          </p:cNvPr>
          <p:cNvSpPr/>
          <p:nvPr/>
        </p:nvSpPr>
        <p:spPr>
          <a:xfrm>
            <a:off x="1622999" y="1545174"/>
            <a:ext cx="2834700" cy="2880300"/>
          </a:xfrm>
          <a:prstGeom prst="rect">
            <a:avLst/>
          </a:prstGeom>
          <a:solidFill>
            <a:srgbClr val="EAF2F8"/>
          </a:solidFill>
          <a:ln w="12700" cap="flat" cmpd="sng">
            <a:solidFill>
              <a:srgbClr val="D5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80;p24">
            <a:extLst>
              <a:ext uri="{FF2B5EF4-FFF2-40B4-BE49-F238E27FC236}">
                <a16:creationId xmlns:a16="http://schemas.microsoft.com/office/drawing/2014/main" id="{41D3061C-A1CE-A952-BB99-CF2516178BF9}"/>
              </a:ext>
            </a:extLst>
          </p:cNvPr>
          <p:cNvSpPr/>
          <p:nvPr/>
        </p:nvSpPr>
        <p:spPr>
          <a:xfrm>
            <a:off x="1622999" y="1700622"/>
            <a:ext cx="2834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4600"/>
              <a:buFont typeface="Consolas"/>
              <a:buNone/>
            </a:pPr>
            <a:r>
              <a:rPr lang="ru" sz="4600" b="1" dirty="0">
                <a:solidFill>
                  <a:srgbClr val="1E8449"/>
                </a:solidFill>
                <a:latin typeface="Consolas"/>
                <a:ea typeface="Consolas"/>
                <a:cs typeface="Consolas"/>
                <a:sym typeface="Consolas"/>
              </a:rPr>
              <a:t>AAA0</a:t>
            </a:r>
            <a:endParaRPr sz="4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81;p24">
            <a:extLst>
              <a:ext uri="{FF2B5EF4-FFF2-40B4-BE49-F238E27FC236}">
                <a16:creationId xmlns:a16="http://schemas.microsoft.com/office/drawing/2014/main" id="{369C19A7-E384-17FA-3A32-4E48CE463F68}"/>
              </a:ext>
            </a:extLst>
          </p:cNvPr>
          <p:cNvSpPr/>
          <p:nvPr/>
        </p:nvSpPr>
        <p:spPr>
          <a:xfrm>
            <a:off x="1622999" y="2615022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1000"/>
              <a:buFont typeface="Calibri"/>
              <a:buNone/>
            </a:pPr>
            <a:r>
              <a:rPr lang="ru" sz="1000" i="1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POST-код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2;p24">
            <a:extLst>
              <a:ext uri="{FF2B5EF4-FFF2-40B4-BE49-F238E27FC236}">
                <a16:creationId xmlns:a16="http://schemas.microsoft.com/office/drawing/2014/main" id="{EF6CA3C1-521A-2F86-6459-D1D9CF66E942}"/>
              </a:ext>
            </a:extLst>
          </p:cNvPr>
          <p:cNvSpPr/>
          <p:nvPr/>
        </p:nvSpPr>
        <p:spPr>
          <a:xfrm>
            <a:off x="1714439" y="2980782"/>
            <a:ext cx="2651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POST пройден успешно.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Индикатор и веб-интерфейс совпадают.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LLM: система работает штатно.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83;p24">
            <a:extLst>
              <a:ext uri="{FF2B5EF4-FFF2-40B4-BE49-F238E27FC236}">
                <a16:creationId xmlns:a16="http://schemas.microsoft.com/office/drawing/2014/main" id="{C07F1CC4-AE4B-075C-AA6C-851F5902397C}"/>
              </a:ext>
            </a:extLst>
          </p:cNvPr>
          <p:cNvSpPr/>
          <p:nvPr/>
        </p:nvSpPr>
        <p:spPr>
          <a:xfrm>
            <a:off x="4594799" y="1197702"/>
            <a:ext cx="2834700" cy="34740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84;p24">
            <a:extLst>
              <a:ext uri="{FF2B5EF4-FFF2-40B4-BE49-F238E27FC236}">
                <a16:creationId xmlns:a16="http://schemas.microsoft.com/office/drawing/2014/main" id="{A2D1C67B-979F-EC1C-2827-5218D2D3023E}"/>
              </a:ext>
            </a:extLst>
          </p:cNvPr>
          <p:cNvSpPr/>
          <p:nvPr/>
        </p:nvSpPr>
        <p:spPr>
          <a:xfrm>
            <a:off x="4658807" y="1215990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ru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Сценарий 2: Отсутствие RAM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85;p24">
            <a:extLst>
              <a:ext uri="{FF2B5EF4-FFF2-40B4-BE49-F238E27FC236}">
                <a16:creationId xmlns:a16="http://schemas.microsoft.com/office/drawing/2014/main" id="{8E515E0A-922C-A4B7-7D04-D1B6738796E6}"/>
              </a:ext>
            </a:extLst>
          </p:cNvPr>
          <p:cNvSpPr/>
          <p:nvPr/>
        </p:nvSpPr>
        <p:spPr>
          <a:xfrm>
            <a:off x="4594799" y="1545174"/>
            <a:ext cx="2834700" cy="2880300"/>
          </a:xfrm>
          <a:prstGeom prst="rect">
            <a:avLst/>
          </a:prstGeom>
          <a:solidFill>
            <a:srgbClr val="EAF2F8"/>
          </a:solidFill>
          <a:ln w="12700" cap="flat" cmpd="sng">
            <a:solidFill>
              <a:srgbClr val="D5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86;p24">
            <a:extLst>
              <a:ext uri="{FF2B5EF4-FFF2-40B4-BE49-F238E27FC236}">
                <a16:creationId xmlns:a16="http://schemas.microsoft.com/office/drawing/2014/main" id="{9DE52F11-289B-F8EC-39A6-5FA4932149D0}"/>
              </a:ext>
            </a:extLst>
          </p:cNvPr>
          <p:cNvSpPr/>
          <p:nvPr/>
        </p:nvSpPr>
        <p:spPr>
          <a:xfrm>
            <a:off x="4594799" y="1700622"/>
            <a:ext cx="2834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4600"/>
              <a:buFont typeface="Consolas"/>
              <a:buNone/>
            </a:pPr>
            <a:r>
              <a:rPr lang="ru" sz="4600" b="1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5322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87;p24">
            <a:extLst>
              <a:ext uri="{FF2B5EF4-FFF2-40B4-BE49-F238E27FC236}">
                <a16:creationId xmlns:a16="http://schemas.microsoft.com/office/drawing/2014/main" id="{E5A16E54-7AA4-CB72-932B-7ED971EEC750}"/>
              </a:ext>
            </a:extLst>
          </p:cNvPr>
          <p:cNvSpPr/>
          <p:nvPr/>
        </p:nvSpPr>
        <p:spPr>
          <a:xfrm>
            <a:off x="4594799" y="2615022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1000"/>
              <a:buFont typeface="Calibri"/>
              <a:buNone/>
            </a:pPr>
            <a:r>
              <a:rPr lang="ru" sz="1000" i="1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POST-код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88;p24">
            <a:extLst>
              <a:ext uri="{FF2B5EF4-FFF2-40B4-BE49-F238E27FC236}">
                <a16:creationId xmlns:a16="http://schemas.microsoft.com/office/drawing/2014/main" id="{D2E08410-EACB-89AD-D259-0863A935604F}"/>
              </a:ext>
            </a:extLst>
          </p:cNvPr>
          <p:cNvSpPr/>
          <p:nvPr/>
        </p:nvSpPr>
        <p:spPr>
          <a:xfrm>
            <a:off x="4686239" y="2980782"/>
            <a:ext cx="2651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Ошибка RAM. Индикатор 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веб-интерфейс совпадают.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LLM: неисправность контроллера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памяти / модулей RAM.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89;p24">
            <a:extLst>
              <a:ext uri="{FF2B5EF4-FFF2-40B4-BE49-F238E27FC236}">
                <a16:creationId xmlns:a16="http://schemas.microsoft.com/office/drawing/2014/main" id="{0AA08DCC-D2DF-F759-561F-3C9405529B12}"/>
              </a:ext>
            </a:extLst>
          </p:cNvPr>
          <p:cNvSpPr/>
          <p:nvPr/>
        </p:nvSpPr>
        <p:spPr>
          <a:xfrm>
            <a:off x="1622999" y="4507830"/>
            <a:ext cx="5806500" cy="274200"/>
          </a:xfrm>
          <a:prstGeom prst="rect">
            <a:avLst/>
          </a:prstGeom>
          <a:solidFill>
            <a:srgbClr val="EAF9F4"/>
          </a:solidFill>
          <a:ln w="1015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0;p24">
            <a:extLst>
              <a:ext uri="{FF2B5EF4-FFF2-40B4-BE49-F238E27FC236}">
                <a16:creationId xmlns:a16="http://schemas.microsoft.com/office/drawing/2014/main" id="{099336A8-2ECE-29FB-B8A2-BAFB11A3ECAB}"/>
              </a:ext>
            </a:extLst>
          </p:cNvPr>
          <p:cNvSpPr/>
          <p:nvPr/>
        </p:nvSpPr>
        <p:spPr>
          <a:xfrm>
            <a:off x="1668719" y="4516974"/>
            <a:ext cx="58065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50"/>
              <a:buFont typeface="Calibri"/>
              <a:buNone/>
            </a:pPr>
            <a:r>
              <a:rPr lang="ru" sz="1050" b="1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✓  POST-коды на индикаторе и в веб-интерфейсе совпали в обоих сценариях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08;p11">
            <a:extLst>
              <a:ext uri="{FF2B5EF4-FFF2-40B4-BE49-F238E27FC236}">
                <a16:creationId xmlns:a16="http://schemas.microsoft.com/office/drawing/2014/main" id="{25AC4CE1-E217-AB4B-BB22-CAB6409F3EFF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Рабочие испытания: результаты </a:t>
            </a:r>
            <a:endParaRPr lang="en-US" sz="1600" b="1" dirty="0">
              <a:solidFill>
                <a:srgbClr val="004282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BAF03F0-D0D1-4327-B985-11949909E40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36" b="40019"/>
          <a:stretch>
            <a:fillRect/>
          </a:stretch>
        </p:blipFill>
        <p:spPr bwMode="auto">
          <a:xfrm>
            <a:off x="1614476" y="1779909"/>
            <a:ext cx="2843223" cy="8171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D047DA-0E6A-7E9D-4B1C-122D54DF61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1" t="46578" r="17718" b="40687"/>
          <a:stretch>
            <a:fillRect/>
          </a:stretch>
        </p:blipFill>
        <p:spPr bwMode="auto">
          <a:xfrm>
            <a:off x="4597864" y="1777750"/>
            <a:ext cx="2831635" cy="8193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7963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393AC4C-C88C-A3DA-0CA7-0DE9789C8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A16F399C-A2DD-9924-A7DD-D6DF32C66CE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DE2BA9A-D1DC-A2F2-F58E-D155F78C6F02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117678F-BE5F-A6BC-DFF5-577731B74F60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43BE83B-FC7F-3EEF-05FB-BB0A21B064AD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099A3A2-D7C6-0305-56C3-1D4B03976EF1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3DD193A-2F12-2379-7F88-3FCC39643BEA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B55B06D-7F6B-99F4-00DF-BB6B21BAB4B9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CB919AA-1DE4-E2A3-8F87-E67004A86265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C9B201D-F02E-9CEC-29E9-F69F85DDEA34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1D144446-16FD-F458-11CE-B6E52D6063E5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11</a:t>
            </a: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2B5074F2-0843-90DE-BEF5-37D569D03132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Рабочие испытания: результаты (экранная форма)</a:t>
            </a:r>
          </a:p>
        </p:txBody>
      </p:sp>
      <p:pic>
        <p:nvPicPr>
          <p:cNvPr id="3" name="Google Shape;199;p25">
            <a:extLst>
              <a:ext uri="{FF2B5EF4-FFF2-40B4-BE49-F238E27FC236}">
                <a16:creationId xmlns:a16="http://schemas.microsoft.com/office/drawing/2014/main" id="{48C4033C-EA87-DCB6-5DF0-FDCF5A8114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39383"/>
          <a:stretch/>
        </p:blipFill>
        <p:spPr>
          <a:xfrm>
            <a:off x="174550" y="1283989"/>
            <a:ext cx="4246575" cy="32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0;p25">
            <a:extLst>
              <a:ext uri="{FF2B5EF4-FFF2-40B4-BE49-F238E27FC236}">
                <a16:creationId xmlns:a16="http://schemas.microsoft.com/office/drawing/2014/main" id="{AB7B33CE-85EF-54CE-301B-3ABD850591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60616"/>
          <a:stretch/>
        </p:blipFill>
        <p:spPr>
          <a:xfrm>
            <a:off x="4421125" y="1756935"/>
            <a:ext cx="4631500" cy="23004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2066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46DFC24-831C-8332-9B3B-0F1DBB75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A67701ED-3BCA-89EC-63E7-0B4E68A07F8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3B7B022-E329-F914-93C8-556C3800A010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C6EA534-6E02-7129-DB79-5503FBBE4FAB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94C85D0-8E27-6427-C556-86A8B3614F53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DD9611-9D12-1EC9-61BF-EC055834687C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0E6A8CA-1F02-3B20-4BDB-044605DBA748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9ACCFA3E-5BA3-EDEC-D5B6-EE87D00429C7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2D0190C-D27A-19B3-4EEA-533C1A152941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91B3D0E6-34BF-72FC-8ED8-599E43CF662A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9528B8C6-8454-1265-787C-9267E47BDDAD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12</a:t>
            </a: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4AF2A38C-AC2A-49EB-5164-ACA796428902}"/>
              </a:ext>
            </a:extLst>
          </p:cNvPr>
          <p:cNvSpPr txBox="1">
            <a:spLocks/>
          </p:cNvSpPr>
          <p:nvPr/>
        </p:nvSpPr>
        <p:spPr>
          <a:xfrm>
            <a:off x="31659" y="716674"/>
            <a:ext cx="89845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l">
              <a:buSzPts val="3600"/>
              <a:buFont typeface="Arial" panose="020B0604020202020204"/>
              <a:buNone/>
            </a:pPr>
            <a:r>
              <a:rPr lang="ru-RU" sz="16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Заключение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B9233-9509-C619-A29F-AF91E237F21C}"/>
              </a:ext>
            </a:extLst>
          </p:cNvPr>
          <p:cNvSpPr txBox="1"/>
          <p:nvPr/>
        </p:nvSpPr>
        <p:spPr>
          <a:xfrm>
            <a:off x="300980" y="1223403"/>
            <a:ext cx="8228970" cy="2223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rgbClr val="1C2833"/>
              </a:buClr>
              <a:buSzPts val="1200"/>
              <a:buFont typeface="Wingdings" panose="05000000000000000000" pitchFamily="2" charset="2"/>
              <a:buChar char="ü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Задача 1 выполнена: реверс-инжиниринг CH311L завершён, задокументированы все 64 вывода, разработана принципиальная схема подключения к ESP32</a:t>
            </a:r>
          </a:p>
          <a:p>
            <a:pPr marL="285750" lvl="0" indent="-285750">
              <a:spcBef>
                <a:spcPts val="500"/>
              </a:spcBef>
              <a:buClr>
                <a:srgbClr val="1C2833"/>
              </a:buClr>
              <a:buSzPts val="1200"/>
              <a:buFont typeface="Wingdings" panose="05000000000000000000" pitchFamily="2" charset="2"/>
              <a:buChar char="ü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Задача 2 выполнена: реализована прошивка ESP32 — считывание POST-кода, HTTP-сервер, HTTPS-запрос к облаку, разбор JSON-ответа</a:t>
            </a:r>
          </a:p>
          <a:p>
            <a:pPr marL="285750" lvl="0" indent="-285750">
              <a:spcBef>
                <a:spcPts val="500"/>
              </a:spcBef>
              <a:buClr>
                <a:srgbClr val="1C2833"/>
              </a:buClr>
              <a:buSzPts val="1200"/>
              <a:buFont typeface="Wingdings" panose="05000000000000000000" pitchFamily="2" charset="2"/>
              <a:buChar char="ü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Задача 3 выполнена: создан агент LLM (Yandex </a:t>
            </a:r>
            <a:r>
              <a:rPr lang="ru-RU" dirty="0" err="1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Cloud</a:t>
            </a: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, </a:t>
            </a:r>
            <a:r>
              <a:rPr lang="ru-RU" dirty="0" err="1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DeepSeek</a:t>
            </a: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) с системным </a:t>
            </a:r>
            <a:r>
              <a:rPr lang="ru-RU" dirty="0" err="1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промптом</a:t>
            </a: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, структурированным выводом на русском языке</a:t>
            </a:r>
          </a:p>
          <a:p>
            <a:pPr marL="285750" lvl="0" indent="-285750">
              <a:spcBef>
                <a:spcPts val="500"/>
              </a:spcBef>
              <a:buClr>
                <a:srgbClr val="1C2833"/>
              </a:buClr>
              <a:buSzPts val="1200"/>
              <a:buFont typeface="Wingdings" panose="05000000000000000000" pitchFamily="2" charset="2"/>
              <a:buChar char="ü"/>
            </a:pPr>
            <a:r>
              <a:rPr lang="ru-RU" dirty="0">
                <a:solidFill>
                  <a:srgbClr val="1C2833"/>
                </a:solidFill>
                <a:latin typeface="+mj-lt"/>
                <a:ea typeface="Calibri"/>
                <a:cs typeface="Times New Roman" panose="02020603050405020304" pitchFamily="18" charset="0"/>
                <a:sym typeface="Calibri"/>
              </a:rPr>
              <a:t>Задача 4 выполнена: испытания на Asus P8Z68-V LX подтвердили корректность считывания POST-кодов и качество интерпретации LLM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68262-851F-69C3-DC71-983B026A655F}"/>
              </a:ext>
            </a:extLst>
          </p:cNvPr>
          <p:cNvSpPr txBox="1"/>
          <p:nvPr/>
        </p:nvSpPr>
        <p:spPr>
          <a:xfrm>
            <a:off x="552312" y="4165780"/>
            <a:ext cx="83771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rgbClr val="1ABC9C"/>
              </a:buClr>
              <a:buSzPts val="1200"/>
            </a:pPr>
            <a:r>
              <a:rPr lang="ru-RU" b="1" i="1" dirty="0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Цель ВКР достигнута. Разработан работоспособный аппаратно-программный модуль.</a:t>
            </a:r>
            <a:endParaRPr lang="ru-RU" dirty="0">
              <a:solidFill>
                <a:srgbClr val="707B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8476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46DFC24-831C-8332-9B3B-0F1DBB75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>
            <a:extLst>
              <a:ext uri="{FF2B5EF4-FFF2-40B4-BE49-F238E27FC236}">
                <a16:creationId xmlns:a16="http://schemas.microsoft.com/office/drawing/2014/main" id="{A67701ED-3BCA-89EC-63E7-0B4E68A07F8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659" y="16461"/>
            <a:ext cx="1348809" cy="626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3B7B022-E329-F914-93C8-556C3800A010}"/>
              </a:ext>
            </a:extLst>
          </p:cNvPr>
          <p:cNvCxnSpPr/>
          <p:nvPr/>
        </p:nvCxnSpPr>
        <p:spPr>
          <a:xfrm>
            <a:off x="359532" y="675122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C6EA534-6E02-7129-DB79-5503FBBE4FAB}"/>
              </a:ext>
            </a:extLst>
          </p:cNvPr>
          <p:cNvCxnSpPr>
            <a:cxnSpLocks/>
          </p:cNvCxnSpPr>
          <p:nvPr/>
        </p:nvCxnSpPr>
        <p:spPr>
          <a:xfrm>
            <a:off x="1507015" y="90941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94C85D0-8E27-6427-C556-86A8B3614F53}"/>
              </a:ext>
            </a:extLst>
          </p:cNvPr>
          <p:cNvCxnSpPr>
            <a:cxnSpLocks/>
          </p:cNvCxnSpPr>
          <p:nvPr/>
        </p:nvCxnSpPr>
        <p:spPr>
          <a:xfrm>
            <a:off x="2876374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DD9611-9D12-1EC9-61BF-EC055834687C}"/>
              </a:ext>
            </a:extLst>
          </p:cNvPr>
          <p:cNvSpPr/>
          <p:nvPr/>
        </p:nvSpPr>
        <p:spPr>
          <a:xfrm>
            <a:off x="2876373" y="151659"/>
            <a:ext cx="215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Кафедра «Информатика и вычислительная техника»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0E6A8CA-1F02-3B20-4BDB-044605DBA748}"/>
              </a:ext>
            </a:extLst>
          </p:cNvPr>
          <p:cNvSpPr/>
          <p:nvPr/>
        </p:nvSpPr>
        <p:spPr>
          <a:xfrm>
            <a:off x="1507014" y="239056"/>
            <a:ext cx="13693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2">
                    <a:lumMod val="75000"/>
                  </a:schemeClr>
                </a:solidFill>
              </a:rPr>
              <a:t>ИАИТ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9ACCFA3E-5BA3-EDEC-D5B6-EE87D00429C7}"/>
              </a:ext>
            </a:extLst>
          </p:cNvPr>
          <p:cNvCxnSpPr>
            <a:cxnSpLocks/>
          </p:cNvCxnSpPr>
          <p:nvPr/>
        </p:nvCxnSpPr>
        <p:spPr>
          <a:xfrm>
            <a:off x="5020606" y="83638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2D0190C-D27A-19B3-4EEA-533C1A152941}"/>
              </a:ext>
            </a:extLst>
          </p:cNvPr>
          <p:cNvSpPr txBox="1"/>
          <p:nvPr/>
        </p:nvSpPr>
        <p:spPr>
          <a:xfrm>
            <a:off x="5108763" y="170894"/>
            <a:ext cx="1715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75000"/>
                  </a:schemeClr>
                </a:solidFill>
              </a:rPr>
              <a:t>09.03.01 – «Информатика и вычислительная техника»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91B3D0E6-34BF-72FC-8ED8-599E43CF662A}"/>
              </a:ext>
            </a:extLst>
          </p:cNvPr>
          <p:cNvCxnSpPr>
            <a:cxnSpLocks/>
          </p:cNvCxnSpPr>
          <p:nvPr/>
        </p:nvCxnSpPr>
        <p:spPr>
          <a:xfrm>
            <a:off x="6948592" y="90425"/>
            <a:ext cx="0" cy="536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9528B8C6-8454-1265-787C-9267E47BDDAD}"/>
              </a:ext>
            </a:extLst>
          </p:cNvPr>
          <p:cNvSpPr txBox="1">
            <a:spLocks/>
          </p:cNvSpPr>
          <p:nvPr/>
        </p:nvSpPr>
        <p:spPr>
          <a:xfrm>
            <a:off x="7620000" y="106681"/>
            <a:ext cx="50405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13</a:t>
            </a:r>
          </a:p>
        </p:txBody>
      </p:sp>
      <p:sp>
        <p:nvSpPr>
          <p:cNvPr id="40" name="Google Shape;108;p11">
            <a:extLst>
              <a:ext uri="{FF2B5EF4-FFF2-40B4-BE49-F238E27FC236}">
                <a16:creationId xmlns:a16="http://schemas.microsoft.com/office/drawing/2014/main" id="{4AF2A38C-AC2A-49EB-5164-ACA796428902}"/>
              </a:ext>
            </a:extLst>
          </p:cNvPr>
          <p:cNvSpPr txBox="1">
            <a:spLocks/>
          </p:cNvSpPr>
          <p:nvPr/>
        </p:nvSpPr>
        <p:spPr>
          <a:xfrm>
            <a:off x="1923627" y="1894418"/>
            <a:ext cx="5296746" cy="135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3600"/>
              <a:buFont typeface="Arial" panose="020B0604020202020204"/>
              <a:buNone/>
            </a:pPr>
            <a:r>
              <a:rPr lang="ru-RU" sz="3500" b="1" dirty="0">
                <a:solidFill>
                  <a:srgbClr val="004282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3203128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1142</Words>
  <Application>Microsoft Office PowerPoint</Application>
  <PresentationFormat>Экран (16:9)</PresentationFormat>
  <Paragraphs>230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Courier New</vt:lpstr>
      <vt:lpstr>Calibri</vt:lpstr>
      <vt:lpstr>Wingdings</vt:lpstr>
      <vt:lpstr>Consolas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user;Малышев Дмитрий</dc:creator>
  <cp:lastModifiedBy>Egor</cp:lastModifiedBy>
  <cp:revision>55</cp:revision>
  <dcterms:created xsi:type="dcterms:W3CDTF">2017-09-15T08:32:00Z</dcterms:created>
  <dcterms:modified xsi:type="dcterms:W3CDTF">2026-06-16T18:39:38Z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BCB17C5DC9214CBF8F5424931F154E13_12</vt:lpwstr>
  </property>
  <property fmtid="{D5CDD505-2E9C-101B-9397-08002B2CF9AE}" pid="3" name="KSOProductBuildVer">
    <vt:lpwstr>1049-12.2.0.18607</vt:lpwstr>
  </property>
</Properties>
</file>